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89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2049" y="578644"/>
            <a:ext cx="3419875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6" dirty="0">
                <a:solidFill>
                  <a:srgbClr val="00FF41"/>
                </a:solidFill>
              </a:rPr>
              <a:t>VisionLock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914274" y="1273373"/>
            <a:ext cx="5315424" cy="41255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</a:rPr>
              <a:t>Military-Grade Single Object Tracking System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714500" y="1900238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VisionLock is a sophisticated real-time computer vision application engineered for the high-precision tracking of military ground targets. Utilizing adaptive template matching, the system maintains a consistent target lock across varying environmental conditions.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3028950"/>
            <a:ext cx="2571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Meet the Development Team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Collaborative Engineering by BSAI Students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000125" y="1635919"/>
            <a:ext cx="1535237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Name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535362" y="1635919"/>
            <a:ext cx="1339983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ID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875345" y="1635919"/>
            <a:ext cx="4268530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Primary Responsibility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000125" y="2048470"/>
            <a:ext cx="1535237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Rayyan Ahmed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535362" y="2048470"/>
            <a:ext cx="1339983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22F-BSAI-11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875345" y="2048470"/>
            <a:ext cx="4268530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smtClean="0">
                <a:solidFill>
                  <a:schemeClr val="bg1"/>
                </a:solidFill>
              </a:rPr>
              <a:t>Computer Vision Expert</a:t>
            </a:r>
            <a:endParaRPr lang="en-US" sz="942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0125" y="2464594"/>
            <a:ext cx="1535237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Agha Harris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535362" y="2464594"/>
            <a:ext cx="1339983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22F-BSAI-27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875345" y="2464594"/>
            <a:ext cx="4268530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smtClean="0">
                <a:solidFill>
                  <a:srgbClr val="E0E0E0"/>
                </a:solidFill>
              </a:rPr>
              <a:t>It Lead Manager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000125" y="2877145"/>
            <a:ext cx="1535237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Irtat Mobin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535362" y="2877145"/>
            <a:ext cx="1339983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22F-BSAI-29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875345" y="2877145"/>
            <a:ext cx="4268530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smtClean="0">
                <a:solidFill>
                  <a:srgbClr val="E0E0E0"/>
                </a:solidFill>
              </a:rPr>
              <a:t>ML Expert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1000125" y="3289697"/>
            <a:ext cx="1535237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Omaid Ejaz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2535362" y="3289697"/>
            <a:ext cx="1339983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22F-BSAI-45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875345" y="3289697"/>
            <a:ext cx="4268530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smtClean="0">
                <a:solidFill>
                  <a:schemeClr val="bg2"/>
                </a:solidFill>
              </a:rPr>
              <a:t>ML Expert – Content Developer</a:t>
            </a:r>
            <a:endParaRPr lang="en-US" sz="942" dirty="0">
              <a:solidFill>
                <a:schemeClr val="bg2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00125" y="3702248"/>
            <a:ext cx="1535237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Wajhi Qureshi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2535362" y="3702248"/>
            <a:ext cx="1339983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22F-BSAI-50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875345" y="3702248"/>
            <a:ext cx="4268530" cy="41255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smtClean="0">
                <a:solidFill>
                  <a:srgbClr val="E0E0E0"/>
                </a:solidFill>
              </a:rPr>
              <a:t>Web Developer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Core Technology Stack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Leveraging Industry-Standard Python Libraries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642938" y="1635919"/>
            <a:ext cx="3821906" cy="99119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24335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3703" y="1778794"/>
            <a:ext cx="6532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OpenCV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785813" y="2084189"/>
            <a:ext cx="35361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The core engine for template matching, video I/O, and rendering tactical overlays on frames.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679156" y="1635919"/>
            <a:ext cx="3821906" cy="99119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824335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72063" y="1778794"/>
            <a:ext cx="72696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Streamlit</a:t>
            </a:r>
            <a:endParaRPr lang="en-US" sz="1269" dirty="0"/>
          </a:p>
        </p:txBody>
      </p:sp>
      <p:sp>
        <p:nvSpPr>
          <p:cNvPr id="12" name="Text 7"/>
          <p:cNvSpPr/>
          <p:nvPr/>
        </p:nvSpPr>
        <p:spPr>
          <a:xfrm>
            <a:off x="4822031" y="2084189"/>
            <a:ext cx="35361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Provides the modern, web-based interactive UI for target selection and real-time visualization.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642938" y="2827139"/>
            <a:ext cx="3821906" cy="99119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015555"/>
            <a:ext cx="10715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0125" y="2970014"/>
            <a:ext cx="5877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NumPy</a:t>
            </a:r>
            <a:endParaRPr lang="en-US" sz="1269" dirty="0"/>
          </a:p>
        </p:txBody>
      </p:sp>
      <p:sp>
        <p:nvSpPr>
          <p:cNvPr id="16" name="Text 10"/>
          <p:cNvSpPr/>
          <p:nvPr/>
        </p:nvSpPr>
        <p:spPr>
          <a:xfrm>
            <a:off x="785813" y="3275409"/>
            <a:ext cx="35361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Facilitates high-performance pixel-level operations and array manipulations for image processing.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679156" y="2827139"/>
            <a:ext cx="3821906" cy="99119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015555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2063" y="2970014"/>
            <a:ext cx="8228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Matplotlib</a:t>
            </a:r>
            <a:endParaRPr lang="en-US" sz="1269" dirty="0"/>
          </a:p>
        </p:txBody>
      </p:sp>
      <p:sp>
        <p:nvSpPr>
          <p:cNvPr id="20" name="Text 13"/>
          <p:cNvSpPr/>
          <p:nvPr/>
        </p:nvSpPr>
        <p:spPr>
          <a:xfrm>
            <a:off x="4822031" y="3275409"/>
            <a:ext cx="35361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Used to generate the first-frame reference grid for precise coordinate input by the operator.</a:t>
            </a:r>
            <a:endParaRPr lang="en-US" sz="942" dirty="0"/>
          </a:p>
        </p:txBody>
      </p:sp>
      <p:sp>
        <p:nvSpPr>
          <p:cNvPr id="21" name="Shape 14"/>
          <p:cNvSpPr/>
          <p:nvPr/>
        </p:nvSpPr>
        <p:spPr>
          <a:xfrm>
            <a:off x="642938" y="4018359"/>
            <a:ext cx="3821906" cy="99119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4206776"/>
            <a:ext cx="107156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0125" y="4161234"/>
            <a:ext cx="11588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Python Std Lib</a:t>
            </a:r>
            <a:endParaRPr lang="en-US" sz="1269" dirty="0"/>
          </a:p>
        </p:txBody>
      </p:sp>
      <p:sp>
        <p:nvSpPr>
          <p:cNvPr id="24" name="Text 16"/>
          <p:cNvSpPr/>
          <p:nvPr/>
        </p:nvSpPr>
        <p:spPr>
          <a:xfrm>
            <a:off x="785813" y="4466630"/>
            <a:ext cx="35361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Manages system-level operations including temporary file storage and execution time measurement.</a:t>
            </a:r>
            <a:endParaRPr lang="en-US" sz="942" dirty="0"/>
          </a:p>
        </p:txBody>
      </p:sp>
      <p:sp>
        <p:nvSpPr>
          <p:cNvPr id="25" name="Shape 17"/>
          <p:cNvSpPr/>
          <p:nvPr/>
        </p:nvSpPr>
        <p:spPr>
          <a:xfrm>
            <a:off x="4679156" y="4018359"/>
            <a:ext cx="3821906" cy="99119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4206776"/>
            <a:ext cx="142875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72063" y="4161234"/>
            <a:ext cx="84628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Core Logic</a:t>
            </a:r>
            <a:endParaRPr lang="en-US" sz="1269" dirty="0"/>
          </a:p>
        </p:txBody>
      </p:sp>
      <p:sp>
        <p:nvSpPr>
          <p:cNvPr id="28" name="Text 19"/>
          <p:cNvSpPr/>
          <p:nvPr/>
        </p:nvSpPr>
        <p:spPr>
          <a:xfrm>
            <a:off x="4822031" y="4466630"/>
            <a:ext cx="35361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Custom algorithms for adaptive method selection and dynamic search region expansion.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System Architecture &amp; Workflow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From Raw Video to Targeted Intelligence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388441" y="1778794"/>
            <a:ext cx="1857375" cy="1837339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8441" y="1778794"/>
            <a:ext cx="1857375" cy="2982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4"/>
          <p:cNvSpPr/>
          <p:nvPr/>
        </p:nvSpPr>
        <p:spPr>
          <a:xfrm>
            <a:off x="388441" y="1778794"/>
            <a:ext cx="185737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0F0D"/>
                </a:solidFill>
              </a:rPr>
              <a:t>Phase 01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31316" y="2219920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Input Phase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31316" y="2521744"/>
            <a:ext cx="15716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The operator initiates the process by uploading raw video data for analysis.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31316" y="3108927"/>
            <a:ext cx="1571625" cy="35004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 Upload MP4/AVI/MOV
 &gt; Define Target ROI</a:t>
            </a:r>
            <a:endParaRPr lang="en-US" sz="727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508" y="2611738"/>
            <a:ext cx="107156" cy="1714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58355" y="1778794"/>
            <a:ext cx="1857375" cy="1837339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558355" y="1778794"/>
            <a:ext cx="1857375" cy="2982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4" name="Text 10"/>
          <p:cNvSpPr/>
          <p:nvPr/>
        </p:nvSpPr>
        <p:spPr>
          <a:xfrm>
            <a:off x="2558355" y="1778794"/>
            <a:ext cx="185737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0F0D"/>
                </a:solidFill>
              </a:rPr>
              <a:t>Phase 02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2701230" y="2219920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Initialization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2701230" y="2521744"/>
            <a:ext cx="15716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System extracts the first frame and prepares the tracking environment.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2701230" y="3108927"/>
            <a:ext cx="1571625" cy="35004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 Extract Frame 0
 &gt; Generate Ref Grid</a:t>
            </a:r>
            <a:endParaRPr lang="en-US" sz="727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22" y="2611738"/>
            <a:ext cx="107156" cy="1714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28270" y="1778794"/>
            <a:ext cx="1857375" cy="1837339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28270" y="1778794"/>
            <a:ext cx="1857375" cy="2982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1" name="Text 16"/>
          <p:cNvSpPr/>
          <p:nvPr/>
        </p:nvSpPr>
        <p:spPr>
          <a:xfrm>
            <a:off x="4728270" y="1778794"/>
            <a:ext cx="185737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0F0D"/>
                </a:solidFill>
              </a:rPr>
              <a:t>Phase 03</a:t>
            </a:r>
            <a:endParaRPr lang="en-US" sz="784" dirty="0"/>
          </a:p>
        </p:txBody>
      </p:sp>
      <p:sp>
        <p:nvSpPr>
          <p:cNvPr id="22" name="Text 17"/>
          <p:cNvSpPr/>
          <p:nvPr/>
        </p:nvSpPr>
        <p:spPr>
          <a:xfrm>
            <a:off x="4871145" y="2219920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Processing</a:t>
            </a:r>
            <a:endParaRPr lang="en-US" sz="987" dirty="0"/>
          </a:p>
        </p:txBody>
      </p:sp>
      <p:sp>
        <p:nvSpPr>
          <p:cNvPr id="23" name="Text 18"/>
          <p:cNvSpPr/>
          <p:nvPr/>
        </p:nvSpPr>
        <p:spPr>
          <a:xfrm>
            <a:off x="4871145" y="2521744"/>
            <a:ext cx="15716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Real-time analysis loop applies adaptive tracking to each frame.</a:t>
            </a:r>
            <a:endParaRPr lang="en-US" sz="834" dirty="0"/>
          </a:p>
        </p:txBody>
      </p:sp>
      <p:sp>
        <p:nvSpPr>
          <p:cNvPr id="24" name="Text 19"/>
          <p:cNvSpPr/>
          <p:nvPr/>
        </p:nvSpPr>
        <p:spPr>
          <a:xfrm>
            <a:off x="4871145" y="3108927"/>
            <a:ext cx="1571625" cy="35004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 Template Matching
 &gt; Adaptive Search</a:t>
            </a:r>
            <a:endParaRPr lang="en-US" sz="727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336" y="2611738"/>
            <a:ext cx="107156" cy="17145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898184" y="1778794"/>
            <a:ext cx="1857375" cy="1837339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98184" y="1778794"/>
            <a:ext cx="1857375" cy="2982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8" name="Text 22"/>
          <p:cNvSpPr/>
          <p:nvPr/>
        </p:nvSpPr>
        <p:spPr>
          <a:xfrm>
            <a:off x="6898184" y="1778794"/>
            <a:ext cx="185737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0F0D"/>
                </a:solidFill>
              </a:rPr>
              <a:t>Phase 04</a:t>
            </a:r>
            <a:endParaRPr lang="en-US" sz="784" dirty="0"/>
          </a:p>
        </p:txBody>
      </p:sp>
      <p:sp>
        <p:nvSpPr>
          <p:cNvPr id="29" name="Text 23"/>
          <p:cNvSpPr/>
          <p:nvPr/>
        </p:nvSpPr>
        <p:spPr>
          <a:xfrm>
            <a:off x="7041059" y="2219920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Output Phase</a:t>
            </a:r>
            <a:endParaRPr lang="en-US" sz="987" dirty="0"/>
          </a:p>
        </p:txBody>
      </p:sp>
      <p:sp>
        <p:nvSpPr>
          <p:cNvPr id="30" name="Text 24"/>
          <p:cNvSpPr/>
          <p:nvPr/>
        </p:nvSpPr>
        <p:spPr>
          <a:xfrm>
            <a:off x="7041059" y="2521744"/>
            <a:ext cx="15716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Final generation of processed video with tactical HUD overlays.</a:t>
            </a:r>
            <a:endParaRPr lang="en-US" sz="834" dirty="0"/>
          </a:p>
        </p:txBody>
      </p:sp>
      <p:sp>
        <p:nvSpPr>
          <p:cNvPr id="31" name="Text 25"/>
          <p:cNvSpPr/>
          <p:nvPr/>
        </p:nvSpPr>
        <p:spPr>
          <a:xfrm>
            <a:off x="7041059" y="3108927"/>
            <a:ext cx="1571625" cy="35004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 Render Tactical HUD
 &gt; Export MP4 Video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4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Interactive User Interface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Designed for Tactical Precision and Ease of Use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7502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Dynamic Sidebar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428625" y="2035969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Houses essential project documentation, developer credentials, and technical specifications for quick reference.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2750344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Reference Grid System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428625" y="3036094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Generates a pixel-accurate grid overlay on the first frame to assist operators in precise target coordinate selection.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375046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Military Aesthetic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428625" y="4036219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Utilizes a dark color palette with high-contrast indicators to ensure maximum visibility in tactical environments.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635919"/>
            <a:ext cx="3571875" cy="17145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493294"/>
            <a:ext cx="357187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Adaptive Template Matching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The Engine Behind the Target Lock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642938" y="1635919"/>
            <a:ext cx="377190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Dynamic Method Selection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642938" y="1957388"/>
            <a:ext cx="377190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VisionLock intelligently switches between matching algorithms based on the visual characteristics of the target. By analyzing the </a:t>
            </a:r>
            <a:r>
              <a:rPr lang="en-US" sz="885" b="1" dirty="0">
                <a:solidFill>
                  <a:srgbClr val="00FF41"/>
                </a:solidFill>
              </a:rPr>
              <a:t>standard deviation</a:t>
            </a:r>
            <a:r>
              <a:rPr lang="en-US" sz="942" dirty="0">
                <a:solidFill>
                  <a:srgbClr val="E0E0E0"/>
                </a:solidFill>
              </a:rPr>
              <a:t> of the template, the system optimizes for either correlation accuracy or squared difference precision.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42938" y="3128851"/>
            <a:ext cx="377190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Contrast Optimization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642938" y="3450320"/>
            <a:ext cx="37719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To maintain tracking in high-brightness scenarios, the system monitors the </a:t>
            </a:r>
            <a:r>
              <a:rPr lang="en-US" sz="885" b="1" dirty="0">
                <a:solidFill>
                  <a:srgbClr val="00FF41"/>
                </a:solidFill>
              </a:rPr>
              <a:t>mean pixel intensity</a:t>
            </a:r>
            <a:r>
              <a:rPr lang="en-US" sz="942" dirty="0">
                <a:solidFill>
                  <a:srgbClr val="E0E0E0"/>
                </a:solidFill>
              </a:rPr>
              <a:t>. If the template is too bright, it is dynamically inverted to enhance feature contrast against the background.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729163" y="1635919"/>
            <a:ext cx="3771900" cy="1748433"/>
          </a:xfrm>
          <a:prstGeom prst="rect">
            <a:avLst/>
          </a:prstGeom>
          <a:solidFill>
            <a:srgbClr val="00FF41">
              <a:alpha val="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729163" y="1635919"/>
            <a:ext cx="1769250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Condition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498413" y="1635919"/>
            <a:ext cx="2002650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Logic Applied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729163" y="1984177"/>
            <a:ext cx="1769250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Std Dev &lt; 140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584138" y="2084189"/>
            <a:ext cx="12052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TM_CCOEFF_NORMED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729163" y="2336006"/>
            <a:ext cx="1769250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Std Dev ≥ 140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584138" y="2432447"/>
            <a:ext cx="1192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TM_SQDIFF_NORMED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729163" y="2684264"/>
            <a:ext cx="1769250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Mean &gt; 65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584138" y="2780705"/>
            <a:ext cx="9896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Bitwise Inversion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729163" y="3032522"/>
            <a:ext cx="1769250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Every 10 Frames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6584138" y="3128963"/>
            <a:ext cx="997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Template Refresh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364331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Robust Tracking Logic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01898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Maintaining Lock in Challenging Environments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357188" y="1493044"/>
            <a:ext cx="42862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VisionLock employs sophisticated logic to maintain a target lock even when conditions become challenging. The system requires a minimum confidence score to confirm a match; if this threshold is not met, the search area expands dynamically to re-acquire the target.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360759" y="2533799"/>
            <a:ext cx="1282303" cy="348258"/>
          </a:xfrm>
          <a:prstGeom prst="rect">
            <a:avLst/>
          </a:prstGeom>
          <a:solidFill>
            <a:srgbClr val="00FF41">
              <a:alpha val="1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60759" y="2874913"/>
            <a:ext cx="1282303" cy="714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8" name="Text 5"/>
          <p:cNvSpPr/>
          <p:nvPr/>
        </p:nvSpPr>
        <p:spPr>
          <a:xfrm>
            <a:off x="360759" y="2533799"/>
            <a:ext cx="1282303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Parameter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1643063" y="2533799"/>
            <a:ext cx="753666" cy="348258"/>
          </a:xfrm>
          <a:prstGeom prst="rect">
            <a:avLst/>
          </a:prstGeom>
          <a:solidFill>
            <a:srgbClr val="00FF41">
              <a:alpha val="13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643063" y="2874913"/>
            <a:ext cx="753666" cy="714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" name="Text 8"/>
          <p:cNvSpPr/>
          <p:nvPr/>
        </p:nvSpPr>
        <p:spPr>
          <a:xfrm>
            <a:off x="1643063" y="2533799"/>
            <a:ext cx="753666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Value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2396728" y="2533799"/>
            <a:ext cx="2243138" cy="348258"/>
          </a:xfrm>
          <a:prstGeom prst="rect">
            <a:avLst/>
          </a:prstGeom>
          <a:solidFill>
            <a:srgbClr val="00FF41">
              <a:alpha val="13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396728" y="2874913"/>
            <a:ext cx="2243138" cy="714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4" name="Text 11"/>
          <p:cNvSpPr/>
          <p:nvPr/>
        </p:nvSpPr>
        <p:spPr>
          <a:xfrm>
            <a:off x="2396728" y="2533799"/>
            <a:ext cx="2243138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Function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60759" y="2878485"/>
            <a:ext cx="1282303" cy="5143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Confidence Threshold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1643063" y="2878485"/>
            <a:ext cx="753666" cy="5143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0.55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396728" y="2878485"/>
            <a:ext cx="2243138" cy="5143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Minimum score for match confirmation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60759" y="3392835"/>
            <a:ext cx="1282303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Search Expansion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1643063" y="3392835"/>
            <a:ext cx="753666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80 - 150px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396728" y="3392835"/>
            <a:ext cx="2243138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Dynamic window for target re-acquisition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360759" y="3910757"/>
            <a:ext cx="1282303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Template Update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1643063" y="3910757"/>
            <a:ext cx="753666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10 Frames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2396728" y="3910757"/>
            <a:ext cx="2243138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Refresh rate for target appearance changes</a:t>
            </a:r>
            <a:endParaRPr lang="en-US" sz="834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531" y="1493044"/>
            <a:ext cx="3214688" cy="17145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531" y="3350419"/>
            <a:ext cx="3214688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Target Lock Visualization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Military-Grade HUD and Indicators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285750" y="1564481"/>
            <a:ext cx="1355527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Indicator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641277" y="1564481"/>
            <a:ext cx="1273987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Representation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915264" y="1564481"/>
            <a:ext cx="2371111" cy="3482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Purpose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85750" y="1912739"/>
            <a:ext cx="1355527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Bounding Box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641277" y="1912739"/>
            <a:ext cx="1273987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Red Rectangle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915264" y="1912739"/>
            <a:ext cx="2371111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Frames and isolates the tracked target in real-time.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85750" y="2434233"/>
            <a:ext cx="1355527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Tactical Overlays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641277" y="2434233"/>
            <a:ext cx="1273987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Crosshair &amp; Circle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915264" y="2434233"/>
            <a:ext cx="2371111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Simulates precise aiming for FPV drone operations.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85750" y="2952155"/>
            <a:ext cx="1355527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Status Text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641277" y="2952155"/>
            <a:ext cx="1273987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Tactical Messaging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915264" y="2952155"/>
            <a:ext cx="2371111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Confirms target lock and provides system status updates.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285750" y="3470077"/>
            <a:ext cx="1355527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Performance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641277" y="3470077"/>
            <a:ext cx="1273987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Real-time FPS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915264" y="3470077"/>
            <a:ext cx="2371111" cy="5179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Monitors system efficiency and processing speed.</a:t>
            </a:r>
            <a:endParaRPr lang="en-US" sz="834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156" y="1564481"/>
            <a:ext cx="2857500" cy="1571625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156" y="3278981"/>
            <a:ext cx="285750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Performance Optimization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Real-Time Processing &amp; Resource Efficiency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642938" y="1635919"/>
            <a:ext cx="3821906" cy="128587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21656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556" y="1778794"/>
            <a:ext cx="19703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Search Region Limiting</a:t>
            </a:r>
            <a:endParaRPr lang="en-US" sz="1159" dirty="0"/>
          </a:p>
        </p:txBody>
      </p:sp>
      <p:sp>
        <p:nvSpPr>
          <p:cNvPr id="8" name="Text 4"/>
          <p:cNvSpPr/>
          <p:nvPr/>
        </p:nvSpPr>
        <p:spPr>
          <a:xfrm>
            <a:off x="785813" y="2100263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By focusing analysis on a localized window around the last known position, the system avoids the computational cost of scanning entire frames.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679156" y="1635919"/>
            <a:ext cx="3821906" cy="128587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821656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57775" y="1778794"/>
            <a:ext cx="18507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Grayscale Processing</a:t>
            </a:r>
            <a:endParaRPr lang="en-US" sz="1159" dirty="0"/>
          </a:p>
        </p:txBody>
      </p:sp>
      <p:sp>
        <p:nvSpPr>
          <p:cNvPr id="12" name="Text 7"/>
          <p:cNvSpPr/>
          <p:nvPr/>
        </p:nvSpPr>
        <p:spPr>
          <a:xfrm>
            <a:off x="4822031" y="2100263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Reduces the computational workload by 66% by performing template matching operations on single-channel grayscale images instead of RGB.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642938" y="3136106"/>
            <a:ext cx="3821906" cy="128587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321844"/>
            <a:ext cx="96441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9409" y="3278981"/>
            <a:ext cx="10259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Efficient I/O</a:t>
            </a:r>
            <a:endParaRPr lang="en-US" sz="1159" dirty="0"/>
          </a:p>
        </p:txBody>
      </p:sp>
      <p:sp>
        <p:nvSpPr>
          <p:cNvPr id="16" name="Text 10"/>
          <p:cNvSpPr/>
          <p:nvPr/>
        </p:nvSpPr>
        <p:spPr>
          <a:xfrm>
            <a:off x="785813" y="3600450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Utilizes OpenCV's high-performance VideoWriter with 'mp4v' encoding to ensure rapid frame serialization and video generation.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679156" y="3136106"/>
            <a:ext cx="3821906" cy="1285875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321844"/>
            <a:ext cx="144661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3848" y="3278981"/>
            <a:ext cx="18210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Memory Management</a:t>
            </a:r>
            <a:endParaRPr lang="en-US" sz="1159" dirty="0"/>
          </a:p>
        </p:txBody>
      </p:sp>
      <p:sp>
        <p:nvSpPr>
          <p:cNvPr id="20" name="Text 13"/>
          <p:cNvSpPr/>
          <p:nvPr/>
        </p:nvSpPr>
        <p:spPr>
          <a:xfrm>
            <a:off x="4822031" y="3600450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Implements temporary file handling for large video uploads, preventing system memory exhaustion and ensuring stable operation.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Use Cases and Applications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Beyond the Classroom: Real-World Potential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707356"/>
            <a:ext cx="2619356" cy="2500313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16" y="1930598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341364"/>
            <a:ext cx="2333606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Defense &amp; Recon</a:t>
            </a:r>
            <a:endParaRPr lang="en-US" sz="1159" dirty="0"/>
          </a:p>
        </p:txBody>
      </p:sp>
      <p:sp>
        <p:nvSpPr>
          <p:cNvPr id="8" name="Text 4"/>
          <p:cNvSpPr/>
          <p:nvPr/>
        </p:nvSpPr>
        <p:spPr>
          <a:xfrm>
            <a:off x="571500" y="2741414"/>
            <a:ext cx="2333606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Applied to drone surveillance for tracking ground vehicles from aerial platforms. Ideal for reconnaissance missions and tactical monitoring of enemy movements in hostile environments.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262294" y="1707356"/>
            <a:ext cx="2619384" cy="2500313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193059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05169" y="2341364"/>
            <a:ext cx="2333634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Security Systems</a:t>
            </a:r>
            <a:endParaRPr lang="en-US" sz="1159" dirty="0"/>
          </a:p>
        </p:txBody>
      </p:sp>
      <p:sp>
        <p:nvSpPr>
          <p:cNvPr id="12" name="Text 7"/>
          <p:cNvSpPr/>
          <p:nvPr/>
        </p:nvSpPr>
        <p:spPr>
          <a:xfrm>
            <a:off x="3405169" y="2741414"/>
            <a:ext cx="233363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Provides a foundation for automated monitoring systems that lock onto specific moving objects in restricted zones, enhancing perimeter security and threat detection capabilities.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6095991" y="1707356"/>
            <a:ext cx="2619356" cy="2500313"/>
          </a:xfrm>
          <a:prstGeom prst="rect">
            <a:avLst/>
          </a:prstGeom>
          <a:solidFill>
            <a:srgbClr val="00FF41">
              <a:alpha val="2000"/>
            </a:srgbClr>
          </a:solidFill>
          <a:ln w="9144">
            <a:solidFill>
              <a:srgbClr val="00FF41">
                <a:alpha val="27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656" y="1930598"/>
            <a:ext cx="20002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8866" y="2341364"/>
            <a:ext cx="2333606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0FF41"/>
                </a:solidFill>
              </a:rPr>
              <a:t>R&amp;D Foundation</a:t>
            </a:r>
            <a:endParaRPr lang="en-US" sz="1159" dirty="0"/>
          </a:p>
        </p:txBody>
      </p:sp>
      <p:sp>
        <p:nvSpPr>
          <p:cNvPr id="16" name="Text 10"/>
          <p:cNvSpPr/>
          <p:nvPr/>
        </p:nvSpPr>
        <p:spPr>
          <a:xfrm>
            <a:off x="6238866" y="2741414"/>
            <a:ext cx="2333606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Serves as a robust platform for developing more complex AI-driven target identification systems and simulating FPV drone operations for advanced military personnel training.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" y="435769"/>
            <a:ext cx="91297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3" dirty="0">
                <a:solidFill>
                  <a:srgbClr val="00FF41"/>
                </a:solidFill>
              </a:rPr>
              <a:t>Future Enhancements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4" y="973336"/>
            <a:ext cx="9129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Scaling VisionLock for Next-Gen Requirements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642938" y="1635919"/>
            <a:ext cx="7858125" cy="2731368"/>
          </a:xfrm>
          <a:prstGeom prst="rect">
            <a:avLst/>
          </a:prstGeom>
          <a:solidFill>
            <a:srgbClr val="00FF41">
              <a:alpha val="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1635919"/>
            <a:ext cx="1359461" cy="4054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635919"/>
            <a:ext cx="1359461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0F0D"/>
                </a:solidFill>
              </a:rPr>
              <a:t>Enhancement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002399" y="1635919"/>
            <a:ext cx="3819367" cy="4054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9" name="Text 6"/>
          <p:cNvSpPr/>
          <p:nvPr/>
        </p:nvSpPr>
        <p:spPr>
          <a:xfrm>
            <a:off x="2002399" y="1635919"/>
            <a:ext cx="3819367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0F0D"/>
                </a:solidFill>
              </a:rPr>
              <a:t>Description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821766" y="1635919"/>
            <a:ext cx="2679297" cy="4054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" name="Text 8"/>
          <p:cNvSpPr/>
          <p:nvPr/>
        </p:nvSpPr>
        <p:spPr>
          <a:xfrm>
            <a:off x="5821766" y="1635919"/>
            <a:ext cx="2679297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0F0D"/>
                </a:solidFill>
              </a:rPr>
              <a:t>Expected Benefit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42938" y="2041327"/>
            <a:ext cx="1359461" cy="57791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Deep Learning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002399" y="2041327"/>
            <a:ext cx="3819367" cy="57791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Integration of YOLO or Siamese Networks for feature extraction.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821766" y="2041327"/>
            <a:ext cx="2679297" cy="57791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3333"/>
                </a:solidFill>
              </a:rPr>
              <a:t>Improved handling of target occlusion.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42938" y="2619245"/>
            <a:ext cx="1359461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Multi-Targeting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002399" y="2619245"/>
            <a:ext cx="3819367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Expanding the system to track multiple objects simultaneously.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821766" y="2619245"/>
            <a:ext cx="2679297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3333"/>
                </a:solidFill>
              </a:rPr>
              <a:t>Enhanced situational awareness.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42938" y="3200735"/>
            <a:ext cx="1359461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GPU Acceleration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002399" y="3200735"/>
            <a:ext cx="3819367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Utilizing CUDA cores for high-speed parallel processing.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821766" y="3200735"/>
            <a:ext cx="2679297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3333"/>
                </a:solidFill>
              </a:rPr>
              <a:t>Ultra-high-speed tracking performance.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42938" y="3782225"/>
            <a:ext cx="1359461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Cloud Scaling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002399" y="3782225"/>
            <a:ext cx="3819367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Deployment to distributed cloud environments for remote access.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821766" y="3782225"/>
            <a:ext cx="2679297" cy="58149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3333"/>
                </a:solidFill>
              </a:rPr>
              <a:t>Centralized processing and accessibility.</a:t>
            </a:r>
            <a:endParaRPr lang="en-US" sz="88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116" y="292894"/>
            <a:ext cx="7159768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6" dirty="0">
                <a:solidFill>
                  <a:srgbClr val="00FF41"/>
                </a:solidFill>
              </a:rPr>
              <a:t>Conclusion &amp; Summary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357313" y="1209080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</a:rPr>
              <a:t>VisionLock stands as a successful proof of concept for a military-grade single object tracking system. By effectively combining the power of OpenCV with the interactivity of Streamlit, the development team has created a robust framework for tactical computer vision applications.</a:t>
            </a: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1357313" y="2329197"/>
            <a:ext cx="64293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</a:rPr>
              <a:t>The project demonstrates that through adaptive matching methods and dynamic search strategies, reliable tracking can be achieved in a variety of scenarios, providing a solid foundation for future advancements in automated target acquisition.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2073641" y="3490754"/>
            <a:ext cx="4996718" cy="44469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4"/>
          <p:cNvSpPr/>
          <p:nvPr/>
        </p:nvSpPr>
        <p:spPr>
          <a:xfrm>
            <a:off x="2073641" y="3490754"/>
            <a:ext cx="4996718" cy="444698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kern="0" spc="3" dirty="0">
                <a:solidFill>
                  <a:srgbClr val="0A0F0D"/>
                </a:solidFill>
              </a:rPr>
              <a:t>Mission Complete: Target Locked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938</Words>
  <Application>Microsoft Office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4</cp:revision>
  <dcterms:created xsi:type="dcterms:W3CDTF">2026-01-08T06:01:43Z</dcterms:created>
  <dcterms:modified xsi:type="dcterms:W3CDTF">2026-01-08T15:28:52Z</dcterms:modified>
</cp:coreProperties>
</file>